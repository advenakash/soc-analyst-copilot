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60" r:id="rId6"/>
    <p:sldId id="258" r:id="rId7"/>
    <p:sldId id="259" r:id="rId8"/>
    <p:sldId id="261" r:id="rId9"/>
    <p:sldId id="262" r:id="rId10"/>
    <p:sldId id="263" r:id="rId11"/>
    <p:sldId id="21474826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CBBDF-E39C-448E-BC3B-160864F58122}" v="5" dt="2026-05-27T11:37:49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tu  Asthana" userId="18a97b1e-5d31-439c-ae91-a95b46916337" providerId="ADAL" clId="{723BAAFB-D994-4AA5-AC47-DA732853B4F2}"/>
    <pc:docChg chg="undo custSel modSld">
      <pc:chgData name="Reetu  Asthana" userId="18a97b1e-5d31-439c-ae91-a95b46916337" providerId="ADAL" clId="{723BAAFB-D994-4AA5-AC47-DA732853B4F2}" dt="2026-05-27T11:37:49.070" v="84"/>
      <pc:docMkLst>
        <pc:docMk/>
      </pc:docMkLst>
      <pc:sldChg chg="addSp delSp modSp mod modClrScheme chgLayout">
        <pc:chgData name="Reetu  Asthana" userId="18a97b1e-5d31-439c-ae91-a95b46916337" providerId="ADAL" clId="{723BAAFB-D994-4AA5-AC47-DA732853B4F2}" dt="2026-05-27T11:37:10.681" v="80" actId="20577"/>
        <pc:sldMkLst>
          <pc:docMk/>
          <pc:sldMk cId="2411583384" sldId="261"/>
        </pc:sldMkLst>
        <pc:spChg chg="add del mod ord">
          <ac:chgData name="Reetu  Asthana" userId="18a97b1e-5d31-439c-ae91-a95b46916337" providerId="ADAL" clId="{723BAAFB-D994-4AA5-AC47-DA732853B4F2}" dt="2026-05-27T11:36:18.437" v="61" actId="700"/>
          <ac:spMkLst>
            <pc:docMk/>
            <pc:sldMk cId="2411583384" sldId="261"/>
            <ac:spMk id="3" creationId="{E69FA630-BB77-1B34-BBC1-06741A65194C}"/>
          </ac:spMkLst>
        </pc:spChg>
        <pc:spChg chg="mod">
          <ac:chgData name="Reetu  Asthana" userId="18a97b1e-5d31-439c-ae91-a95b46916337" providerId="ADAL" clId="{723BAAFB-D994-4AA5-AC47-DA732853B4F2}" dt="2026-05-27T11:35:52.080" v="57" actId="1076"/>
          <ac:spMkLst>
            <pc:docMk/>
            <pc:sldMk cId="2411583384" sldId="261"/>
            <ac:spMk id="19" creationId="{11A08A97-7193-219A-A390-1B6ED083153B}"/>
          </ac:spMkLst>
        </pc:spChg>
        <pc:spChg chg="add del mod ord">
          <ac:chgData name="Reetu  Asthana" userId="18a97b1e-5d31-439c-ae91-a95b46916337" providerId="ADAL" clId="{723BAAFB-D994-4AA5-AC47-DA732853B4F2}" dt="2026-05-27T11:36:18.437" v="61" actId="700"/>
          <ac:spMkLst>
            <pc:docMk/>
            <pc:sldMk cId="2411583384" sldId="261"/>
            <ac:spMk id="24" creationId="{64FE9071-1EEA-972A-C2D8-C5DFAD2D7E38}"/>
          </ac:spMkLst>
        </pc:spChg>
        <pc:spChg chg="add mod">
          <ac:chgData name="Reetu  Asthana" userId="18a97b1e-5d31-439c-ae91-a95b46916337" providerId="ADAL" clId="{723BAAFB-D994-4AA5-AC47-DA732853B4F2}" dt="2026-05-27T11:37:10.681" v="80" actId="20577"/>
          <ac:spMkLst>
            <pc:docMk/>
            <pc:sldMk cId="2411583384" sldId="261"/>
            <ac:spMk id="25" creationId="{3FE1313F-F8FA-9881-CAC3-E535412C988E}"/>
          </ac:spMkLst>
        </pc:spChg>
      </pc:sldChg>
      <pc:sldChg chg="addSp delSp modSp mod">
        <pc:chgData name="Reetu  Asthana" userId="18a97b1e-5d31-439c-ae91-a95b46916337" providerId="ADAL" clId="{723BAAFB-D994-4AA5-AC47-DA732853B4F2}" dt="2026-05-27T11:37:43.835" v="82"/>
        <pc:sldMkLst>
          <pc:docMk/>
          <pc:sldMk cId="3910731092" sldId="262"/>
        </pc:sldMkLst>
        <pc:spChg chg="add del mod">
          <ac:chgData name="Reetu  Asthana" userId="18a97b1e-5d31-439c-ae91-a95b46916337" providerId="ADAL" clId="{723BAAFB-D994-4AA5-AC47-DA732853B4F2}" dt="2026-05-27T11:37:43.056" v="81" actId="478"/>
          <ac:spMkLst>
            <pc:docMk/>
            <pc:sldMk cId="3910731092" sldId="262"/>
            <ac:spMk id="27" creationId="{AF18967A-AD88-B7C0-F800-EF1DE2832B75}"/>
          </ac:spMkLst>
        </pc:spChg>
        <pc:spChg chg="add mod">
          <ac:chgData name="Reetu  Asthana" userId="18a97b1e-5d31-439c-ae91-a95b46916337" providerId="ADAL" clId="{723BAAFB-D994-4AA5-AC47-DA732853B4F2}" dt="2026-05-27T11:37:43.835" v="82"/>
          <ac:spMkLst>
            <pc:docMk/>
            <pc:sldMk cId="3910731092" sldId="262"/>
            <ac:spMk id="28" creationId="{5B259C82-B91E-03A9-212E-48FE14D8F8F7}"/>
          </ac:spMkLst>
        </pc:spChg>
        <pc:grpChg chg="mod">
          <ac:chgData name="Reetu  Asthana" userId="18a97b1e-5d31-439c-ae91-a95b46916337" providerId="ADAL" clId="{723BAAFB-D994-4AA5-AC47-DA732853B4F2}" dt="2026-05-27T11:35:43.662" v="55" actId="14100"/>
          <ac:grpSpMkLst>
            <pc:docMk/>
            <pc:sldMk cId="3910731092" sldId="262"/>
            <ac:grpSpMk id="2" creationId="{9B112FBF-E31E-F2C1-8892-40EF2D9BCAD9}"/>
          </ac:grpSpMkLst>
        </pc:grpChg>
      </pc:sldChg>
      <pc:sldChg chg="addSp delSp modSp mod">
        <pc:chgData name="Reetu  Asthana" userId="18a97b1e-5d31-439c-ae91-a95b46916337" providerId="ADAL" clId="{723BAAFB-D994-4AA5-AC47-DA732853B4F2}" dt="2026-05-27T11:37:49.070" v="84"/>
        <pc:sldMkLst>
          <pc:docMk/>
          <pc:sldMk cId="1239759841" sldId="263"/>
        </pc:sldMkLst>
        <pc:spChg chg="add del mod">
          <ac:chgData name="Reetu  Asthana" userId="18a97b1e-5d31-439c-ae91-a95b46916337" providerId="ADAL" clId="{723BAAFB-D994-4AA5-AC47-DA732853B4F2}" dt="2026-05-27T11:37:48.375" v="83" actId="478"/>
          <ac:spMkLst>
            <pc:docMk/>
            <pc:sldMk cId="1239759841" sldId="263"/>
            <ac:spMk id="3" creationId="{6515D3FC-F772-7198-1CB7-87D54D9AC123}"/>
          </ac:spMkLst>
        </pc:spChg>
        <pc:spChg chg="add mod">
          <ac:chgData name="Reetu  Asthana" userId="18a97b1e-5d31-439c-ae91-a95b46916337" providerId="ADAL" clId="{723BAAFB-D994-4AA5-AC47-DA732853B4F2}" dt="2026-05-27T11:37:49.070" v="84"/>
          <ac:spMkLst>
            <pc:docMk/>
            <pc:sldMk cId="1239759841" sldId="263"/>
            <ac:spMk id="4" creationId="{F4254024-F0B8-76E8-2607-DB4A80AA379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E2AD0-062C-434A-B4E4-64FEA9FBE24D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94673-1359-4CB3-968F-02DC6AE2F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5A0A-81CD-C63E-4594-79B38FA9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6A08D-9635-E40A-4592-D459B1B8D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CA9A8-E46B-BC2A-02BC-238F5E49A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B38BC-431D-7F45-C0A9-A363B5740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97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2F04-F704-6DC1-E88E-1F08D4DE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8263B-0245-F5B8-D5B4-8116F6E39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1A5A3-7D4E-DA1C-0FC3-8679DD09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43FF4-530D-DD2D-FF3A-322B9CD5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40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3AF2-C7C5-FF8A-9CB2-0E8CE56F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CE50F-B154-B7A4-C8BA-D7D3D75A4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0A17B-78CE-1BA8-62D9-4891FEDCE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C2B85-F72D-5583-9019-34DD2CD07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82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C4C9-478A-46AA-A933-B8952182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B3D7C-A7FD-DAEB-E25A-53FAFE5B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B3217-A719-2B3A-547C-9E76AF856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91DAB-2F78-D35D-F944-F36D8E2AA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99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8821-1C6C-A4BE-D19A-E0BAA011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97DC5-B11A-F685-3A05-DBF50DC34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7E788-B669-762D-A839-7E87BD06D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81677-8659-B641-F7F1-C39286505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731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2651-525F-C661-4549-3A4EFF55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1C603-85F8-0F06-DA56-C3094576B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2AB1D-9215-F6E3-3D34-B12F04418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0524E-79B1-FB58-F7F8-DA5AEFC7D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41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72BA-23AA-1A79-355B-845D5A997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B630A-56CE-A47A-1BE3-0CB1243E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70D3A-8489-7E38-B8F0-A6379161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F6BE1-6709-D80C-5DB5-615FF870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4B1C-62A8-184E-BDB5-FFB4D55E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6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12B98-6CC1-C7A1-E508-FB0BAEE7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5A56-BA03-3F0A-DCA3-29072AC5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56003-689F-D356-B7F9-50285347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1041D-2EFC-32BD-5F5D-A521B1F8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37488-35A8-F264-381D-0E5AEA3D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7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E3FD-D9EE-86F1-DAC6-0ECC022A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8F86C-A9E0-2DD4-7034-5771B2CB7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AA2DA-1D30-01C3-2CF2-ADABC58C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BF6B-31C0-E54B-52CF-26CB9E1E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424DE-7BDC-4C18-B031-19A7A6CF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4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7A6-86D9-D396-5460-60399427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EEA0-097A-AD52-BD92-FE56C80F4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AA00A-7001-12B0-CC18-0322A832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20B89-A43E-85C8-A876-3908F79D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90A7C-8D36-BF15-F7FF-F0F5FEA1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CA67F-38D3-DBE6-76FF-42BEC962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24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7D57-F700-1811-3DC9-78A7F4A9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A4EEA-8577-1D3D-9DF6-AFBB8BC6D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EC886-3D3E-FB22-E143-C66826F54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22126-FCBA-F968-44A4-9D785C2BD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F64C8-3CFD-3688-22F9-1E84351B8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05D85-5FE1-3C94-238D-FA09274C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F64D8-3946-9B7D-417D-7D0A1D20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E4F79-5355-4FAB-27FF-9AB09A0C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1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A1CE-13A1-74B4-3183-6710AAD4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9D87-5691-0142-A1B7-10799D17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6CA7A-28B3-8572-E076-5F427F01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F59D6-20EC-60DD-2471-0FEF22CA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72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C69F2-232E-F586-2C45-131A0E28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C4E9-997E-9AA9-4D35-40A8DE86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BB494-5251-C43B-3FB5-52570267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4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1DB2-85B8-2A85-414C-F9A875B1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4262-C59C-8DB9-F580-7A01FAB65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40865-6BBC-6C8D-DA5D-BCDA49E3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C3D6-D4DF-E231-B109-31ADE3F9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7E26F-ECD7-9AF5-0673-F48F2BDC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9C50D-F590-653F-5F0F-0BB0366D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0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22F0-4328-F85C-0EF6-A1B638AF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0FD3E-DD17-5FA8-C61F-EB5E36CE2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196C3-DC8B-9285-BD79-13DD15D2A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1D1BD-4812-6B9A-ED86-49D9ADAD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EC4D4-B9A8-7A00-4B8C-3D4F6F50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F4ACA-9D6F-A538-36BE-F28D3E83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2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3D7B-0CF1-56C5-AD4C-EEA65FA3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C2065-9CCB-38B8-6B07-F901DC891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582A-5C1C-0DEB-F640-CCFEE533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03EB-E7A1-3EE2-7F77-2B421BB3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36C1-E1F8-659D-D42F-251B360E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9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58DA2-09BD-1E47-1E30-C8EF93628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02B51-D703-A80B-A052-EC9806C1A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CD0B-D1E9-61D8-D9A4-E0E5C996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50C4-A81C-6178-9DDB-FA02EF99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8AA69-6783-064F-C5FF-F62DC356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290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0C8E-A9EB-C03B-61F6-A6B2934F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FBDE9-173B-7B90-3D6A-41DE2FB68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F99A-43D4-4FB6-4308-E9D9C2F0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7545-642A-8D35-66D8-D8116162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A40B-5001-0462-5B27-41B0B2B0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550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CEB7-544A-7B19-CD10-55A01BAB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714D-EDA1-2DE3-6A28-D0E1C7925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EE3F-A059-1B85-E582-ECD4DB86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E1962-B740-69A5-2FAD-513F9C74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6DA22-9638-AB24-936B-200A7658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31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76D-9739-B8A2-671D-2170F64C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324FF-5FDA-67CB-8A22-44CC0818D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257A2-CFE3-06DB-773E-D0CFFC2A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795E-15EB-CA8C-C0D8-A0362E18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A338-DCC9-2959-A21D-01136D93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44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2EE6-5595-721B-24A9-E06DF4DD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60B4-6CBF-887B-47C4-F411EDE27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D4D5-EE3B-82BB-8974-B5445B1E0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0B0E3-E02A-F06E-F2EF-A3EDDBB3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839E1-307B-1C32-D93A-50C22B4BB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5F9A4-4021-5D26-D076-058578B3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739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FE1C-2C67-5E78-89E3-0C99B524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866B-42CF-B49B-0A44-95BFE647C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15E31-0410-B16D-0928-CF79C46B8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6F4B8-E081-9B6C-F3CC-213B5E28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C826F-BBF2-8F42-EB23-EDB94265D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E1C0B-05B9-A5F8-6F7C-AADA6708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DDB26-733E-22C9-429B-7E1760D5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B49C8-5F35-C324-4F1A-B8FC00A1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257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A1A2-91D8-0417-E4C1-B2D1F1F5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82110-708A-3C64-5967-0DA6D85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0CC10-669D-29F0-56B9-FA5D2136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89EC5-B1E5-2FD9-256E-452B3BFF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97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07041-AD3B-7595-B0ED-FD7B8013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02EE0-5D19-3827-2D39-33CA0F6E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1F34-2B4B-635F-EF79-7FF77831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09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19F2-6400-E2BB-9170-6AE8584E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22C3-77CF-5C22-A8F9-EA50131D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8BE5-51F5-6AC6-F710-6F55D044D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D64A9-98C8-3F59-F967-75E192E9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2C49-A1EC-E2F7-C71F-F36CBD0B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57FBB-F95B-1EE5-CA59-3C3E993A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84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9AFB-AC1A-4C6F-08CF-7C410BD7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E25ED-8799-739C-2AC3-F22FBA01A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EE16C-AC47-7C0A-D050-6BC9F4210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C4114-5159-513E-394E-2B65211D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C54BA-ED46-11B6-238C-CA182024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64798-E814-9471-5063-1686976C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45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F7FE-B6E3-6A63-1AC8-7BB6B6D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2D97F-5686-25FD-C85A-211989A13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F781-3E79-764E-1640-1F010024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1A029-3323-F8DD-2A5C-99BF4D9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140A-B252-4201-3228-BC461F0B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62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D2AA0-298E-ED2E-DC3F-4EF879395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410FF-D48F-7408-8070-D41C45AE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E1AE-FF46-0A5C-3DA6-7E96CD3F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00C1-3994-C7B1-959B-BF2213D5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84E9-A22F-FD63-3C85-0DE77A84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98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jpg"/><Relationship Id="rId14" Type="http://schemas.openxmlformats.org/officeDocument/2006/relationships/image" Target="../media/image4.png"/><Relationship Id="rId15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91D7EE-2814-1386-F7FB-3C028A99CF8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15" y="435204"/>
            <a:ext cx="3041584" cy="1105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256E7-F9FA-6553-6774-3E50971C931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0463" y="50015"/>
            <a:ext cx="768437" cy="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C812EC-DBE8-FDF8-E700-F9FA2663166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1998EF-655A-09B9-841F-CD52830641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5" y="435204"/>
            <a:ext cx="3041585" cy="1105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3CA5A-5A99-0453-8A2F-15D5BB50CE1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63" y="50015"/>
            <a:ext cx="768437" cy="72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9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24019-1524-6260-08B6-7CD0E87D2B0B}"/>
              </a:ext>
            </a:extLst>
          </p:cNvPr>
          <p:cNvSpPr txBox="1"/>
          <p:nvPr/>
        </p:nvSpPr>
        <p:spPr>
          <a:xfrm>
            <a:off x="392536" y="3904711"/>
            <a:ext cx="5320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Houschka Rounded Alt Medium" panose="020F0603000000020003" pitchFamily="34" charset="0"/>
              </a:rPr>
              <a:t>TCS &amp; AMD AI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Emp ID: 2732850</a:t>
            </a:r>
          </a:p>
        </p:txBody>
      </p:sp>
    </p:spTree>
    <p:extLst>
      <p:ext uri="{BB962C8B-B14F-4D97-AF65-F5344CB8AC3E}">
        <p14:creationId xmlns:p14="http://schemas.microsoft.com/office/powerpoint/2010/main" val="76869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A1BD-7DC0-A69D-CE64-E9DEED8D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5F14-29F5-7277-1544-2E8BDB9A6BAF}"/>
              </a:ext>
            </a:extLst>
          </p:cNvPr>
          <p:cNvSpPr txBox="1"/>
          <p:nvPr/>
        </p:nvSpPr>
        <p:spPr>
          <a:xfrm>
            <a:off x="4591050" y="1584901"/>
            <a:ext cx="3067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Basic Information</a:t>
            </a:r>
            <a:endParaRPr lang="en-US" sz="2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67B0FC-2D5B-B5E5-09CA-57000EDD742D}"/>
              </a:ext>
            </a:extLst>
          </p:cNvPr>
          <p:cNvGrpSpPr/>
          <p:nvPr/>
        </p:nvGrpSpPr>
        <p:grpSpPr>
          <a:xfrm>
            <a:off x="285748" y="2333495"/>
            <a:ext cx="11106153" cy="3834199"/>
            <a:chOff x="285748" y="2333495"/>
            <a:chExt cx="11106153" cy="38341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5FB574-A7C9-3F88-63E5-EC2FC9298807}"/>
                </a:ext>
              </a:extLst>
            </p:cNvPr>
            <p:cNvSpPr/>
            <p:nvPr/>
          </p:nvSpPr>
          <p:spPr>
            <a:xfrm>
              <a:off x="2647948" y="5649154"/>
              <a:ext cx="8743952" cy="51854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E8668A-2559-33F9-977D-5BED3E389643}"/>
                </a:ext>
              </a:extLst>
            </p:cNvPr>
            <p:cNvSpPr/>
            <p:nvPr/>
          </p:nvSpPr>
          <p:spPr>
            <a:xfrm>
              <a:off x="3962401" y="3238250"/>
              <a:ext cx="7429500" cy="120720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A165D9-7E1C-D509-F1D9-56AC9AD66135}"/>
                </a:ext>
              </a:extLst>
            </p:cNvPr>
            <p:cNvSpPr/>
            <p:nvPr/>
          </p:nvSpPr>
          <p:spPr>
            <a:xfrm>
              <a:off x="2647949" y="2333495"/>
              <a:ext cx="8743951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FD1352-7843-F42F-B0CD-CCF2BCD8E809}"/>
                </a:ext>
              </a:extLst>
            </p:cNvPr>
            <p:cNvSpPr txBox="1"/>
            <p:nvPr/>
          </p:nvSpPr>
          <p:spPr>
            <a:xfrm>
              <a:off x="285748" y="2376046"/>
              <a:ext cx="1552575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b="1" dirty="0">
                  <a:effectLst/>
                </a:rPr>
                <a:t>Team name: </a:t>
              </a:r>
              <a:endParaRPr lang="en-US" sz="16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1EE58B-37CA-0937-855F-24EC78359FA4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dirty="0"/>
                <a:t>jupyter-hack-team-2652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1738126-0FC3-3441-72E0-DBBAD13CC50E}"/>
                </a:ext>
              </a:extLst>
            </p:cNvPr>
            <p:cNvGrpSpPr/>
            <p:nvPr/>
          </p:nvGrpSpPr>
          <p:grpSpPr>
            <a:xfrm>
              <a:off x="285748" y="3331722"/>
              <a:ext cx="10125076" cy="1077218"/>
              <a:chOff x="352423" y="2975555"/>
              <a:chExt cx="10125076" cy="1077218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C8D0D7-4EC5-A5B3-94C3-3D1856EEB3F4}"/>
                  </a:ext>
                </a:extLst>
              </p:cNvPr>
              <p:cNvSpPr txBox="1"/>
              <p:nvPr/>
            </p:nvSpPr>
            <p:spPr>
              <a:xfrm>
                <a:off x="352423" y="2975555"/>
                <a:ext cx="3914775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Names of the team members / individual / role in the team for the Hackathon </a:t>
                </a:r>
                <a:r>
                  <a:rPr lang="en-US" sz="1600" dirty="0"/>
                  <a:t>(Research, coding, building the business case, presentation, </a:t>
                </a:r>
                <a:r>
                  <a:rPr lang="en-US" sz="1600" dirty="0" err="1"/>
                  <a:t>etc</a:t>
                </a:r>
                <a:r>
                  <a:rPr lang="en-US" sz="1600" dirty="0"/>
                  <a:t>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20D7AB-8A69-C75C-6547-4C93260778D5}"/>
                  </a:ext>
                </a:extLst>
              </p:cNvPr>
              <p:cNvSpPr txBox="1"/>
              <p:nvPr/>
            </p:nvSpPr>
            <p:spPr>
              <a:xfrm>
                <a:off x="5248274" y="2987235"/>
                <a:ext cx="5229225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Akash — Python Developer | Nagaraj — Gen AI Developer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C33C272-CB51-C4EE-A839-1FA685BE9C61}"/>
                </a:ext>
              </a:extLst>
            </p:cNvPr>
            <p:cNvGrpSpPr/>
            <p:nvPr/>
          </p:nvGrpSpPr>
          <p:grpSpPr>
            <a:xfrm>
              <a:off x="285748" y="4586806"/>
              <a:ext cx="10191750" cy="719766"/>
              <a:chOff x="352424" y="2364481"/>
              <a:chExt cx="10191750" cy="7197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21AAF2-A77D-E6C3-8689-934B4873182F}"/>
                  </a:ext>
                </a:extLst>
              </p:cNvPr>
              <p:cNvSpPr txBox="1"/>
              <p:nvPr/>
            </p:nvSpPr>
            <p:spPr>
              <a:xfrm>
                <a:off x="352424" y="2364481"/>
                <a:ext cx="1552575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b="1" dirty="0"/>
                  <a:t>Project Title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93A9C5-DA7A-5D18-C13F-A593CD4871A0}"/>
                  </a:ext>
                </a:extLst>
              </p:cNvPr>
              <p:cNvSpPr txBox="1"/>
              <p:nvPr/>
            </p:nvSpPr>
            <p:spPr>
              <a:xfrm>
                <a:off x="2714624" y="2565707"/>
                <a:ext cx="782955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SOC Analyst Copilot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08269A-5EE9-22AF-F66D-9877EF9BE469}"/>
                </a:ext>
              </a:extLst>
            </p:cNvPr>
            <p:cNvGrpSpPr/>
            <p:nvPr/>
          </p:nvGrpSpPr>
          <p:grpSpPr>
            <a:xfrm>
              <a:off x="285749" y="5564023"/>
              <a:ext cx="10191749" cy="584775"/>
              <a:chOff x="352425" y="2333495"/>
              <a:chExt cx="10191749" cy="58477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28B01-E67C-5F2C-1ADE-5997D29AB668}"/>
                  </a:ext>
                </a:extLst>
              </p:cNvPr>
              <p:cNvSpPr txBox="1"/>
              <p:nvPr/>
            </p:nvSpPr>
            <p:spPr>
              <a:xfrm>
                <a:off x="352425" y="2333495"/>
                <a:ext cx="229552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Short Description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D8055C-D7E6-0155-2F2C-29F6F74D2103}"/>
                  </a:ext>
                </a:extLst>
              </p:cNvPr>
              <p:cNvSpPr txBox="1"/>
              <p:nvPr/>
            </p:nvSpPr>
            <p:spPr>
              <a:xfrm>
                <a:off x="2714624" y="2399730"/>
                <a:ext cx="782955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An AI-powered Security Operations Center dashboard that uses a 5-agent streaming pipeline (Triage → Threat Intel → Investigation → Playbook → Executive Summary) to analyze security alerts in real-time on AMD MI300X GPUs.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E9FF98-9EE9-E953-5F18-10D2D38CBA5A}"/>
                </a:ext>
              </a:extLst>
            </p:cNvPr>
            <p:cNvSpPr/>
            <p:nvPr/>
          </p:nvSpPr>
          <p:spPr>
            <a:xfrm>
              <a:off x="2647948" y="4812862"/>
              <a:ext cx="8743952" cy="51854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072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7BD9-4BF1-B41A-46F0-DFD64179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45C9176-CDB5-3093-B699-7303389F73E8}"/>
              </a:ext>
            </a:extLst>
          </p:cNvPr>
          <p:cNvGrpSpPr/>
          <p:nvPr/>
        </p:nvGrpSpPr>
        <p:grpSpPr>
          <a:xfrm>
            <a:off x="359875" y="2333495"/>
            <a:ext cx="11032026" cy="4076291"/>
            <a:chOff x="359875" y="2333495"/>
            <a:chExt cx="11032026" cy="407629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CF691F-895A-2FB7-CA09-175311635B35}"/>
                </a:ext>
              </a:extLst>
            </p:cNvPr>
            <p:cNvSpPr/>
            <p:nvPr/>
          </p:nvSpPr>
          <p:spPr>
            <a:xfrm>
              <a:off x="2647948" y="5427066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83DAB5-493A-A435-B2D1-67AAC1CC4F47}"/>
                </a:ext>
              </a:extLst>
            </p:cNvPr>
            <p:cNvSpPr/>
            <p:nvPr/>
          </p:nvSpPr>
          <p:spPr>
            <a:xfrm>
              <a:off x="2647949" y="3238250"/>
              <a:ext cx="8743952" cy="68866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2CB27C-24A0-2C91-E8E3-BF75D2AA659B}"/>
                </a:ext>
              </a:extLst>
            </p:cNvPr>
            <p:cNvSpPr/>
            <p:nvPr/>
          </p:nvSpPr>
          <p:spPr>
            <a:xfrm>
              <a:off x="2647949" y="2333495"/>
              <a:ext cx="8743951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0ACEDC-8B91-DF52-8419-F06F4BAAC209}"/>
                </a:ext>
              </a:extLst>
            </p:cNvPr>
            <p:cNvSpPr txBox="1"/>
            <p:nvPr/>
          </p:nvSpPr>
          <p:spPr>
            <a:xfrm>
              <a:off x="359875" y="2333495"/>
              <a:ext cx="204469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Problem statement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D982BC-E737-D00B-FEFA-C24FB7265091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dirty="0"/>
                <a:t>Security analysts face alert fatigue — hundreds of alerts daily with no automated correlation, forcing slow manual triage that misses real threats.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A3EF08-A94A-1729-7017-7C64D8A30AEB}"/>
                </a:ext>
              </a:extLst>
            </p:cNvPr>
            <p:cNvGrpSpPr/>
            <p:nvPr/>
          </p:nvGrpSpPr>
          <p:grpSpPr>
            <a:xfrm>
              <a:off x="359875" y="3241288"/>
              <a:ext cx="10084286" cy="686888"/>
              <a:chOff x="426550" y="2885121"/>
              <a:chExt cx="10084286" cy="6868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7D1A1F-DBDC-E312-DAFB-3325567982BD}"/>
                  </a:ext>
                </a:extLst>
              </p:cNvPr>
              <p:cNvSpPr txBox="1"/>
              <p:nvPr/>
            </p:nvSpPr>
            <p:spPr>
              <a:xfrm>
                <a:off x="426550" y="2987234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Target users / stakeholders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82F669-E60C-067B-2FB0-615BC700B2A9}"/>
                  </a:ext>
                </a:extLst>
              </p:cNvPr>
              <p:cNvSpPr txBox="1"/>
              <p:nvPr/>
            </p:nvSpPr>
            <p:spPr>
              <a:xfrm>
                <a:off x="2714623" y="2885121"/>
                <a:ext cx="779621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SOC Analysts, Security Engineers, Incident Responders, CISOs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D1D84EC-0818-6381-B78B-90F6D66A2BE8}"/>
                </a:ext>
              </a:extLst>
            </p:cNvPr>
            <p:cNvGrpSpPr/>
            <p:nvPr/>
          </p:nvGrpSpPr>
          <p:grpSpPr>
            <a:xfrm>
              <a:off x="359875" y="4179694"/>
              <a:ext cx="10050950" cy="868514"/>
              <a:chOff x="426551" y="1957369"/>
              <a:chExt cx="10050950" cy="86851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4D76F0-2C42-FBA0-1C38-0B060F8592D3}"/>
                  </a:ext>
                </a:extLst>
              </p:cNvPr>
              <p:cNvSpPr txBox="1"/>
              <p:nvPr/>
            </p:nvSpPr>
            <p:spPr>
              <a:xfrm>
                <a:off x="426551" y="1994886"/>
                <a:ext cx="228807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Why this problem matters (business or operational relevance)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15A6E9-C1B9-7920-B386-1000CF478597}"/>
                  </a:ext>
                </a:extLst>
              </p:cNvPr>
              <p:cNvSpPr txBox="1"/>
              <p:nvPr/>
            </p:nvSpPr>
            <p:spPr>
              <a:xfrm>
                <a:off x="2714624" y="1957369"/>
                <a:ext cx="7762877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Reducing Mean Time to Detect (MTTD) and Respond (MTTR) directly limits breach impact and operational risk for enterprises.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41A3F27-D706-A182-AD71-B213E0A6EF9B}"/>
                </a:ext>
              </a:extLst>
            </p:cNvPr>
            <p:cNvGrpSpPr/>
            <p:nvPr/>
          </p:nvGrpSpPr>
          <p:grpSpPr>
            <a:xfrm>
              <a:off x="359875" y="5501944"/>
              <a:ext cx="10117623" cy="646853"/>
              <a:chOff x="426551" y="2271416"/>
              <a:chExt cx="10117623" cy="64685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B40BC0-1F9B-E94D-C589-304D86162B91}"/>
                  </a:ext>
                </a:extLst>
              </p:cNvPr>
              <p:cNvSpPr txBox="1"/>
              <p:nvPr/>
            </p:nvSpPr>
            <p:spPr>
              <a:xfrm>
                <a:off x="426551" y="2333494"/>
                <a:ext cx="202772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Mapped hackathon challenge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DF9F51-CEF4-982E-9257-096C792B84AB}"/>
                  </a:ext>
                </a:extLst>
              </p:cNvPr>
              <p:cNvSpPr txBox="1"/>
              <p:nvPr/>
            </p:nvSpPr>
            <p:spPr>
              <a:xfrm>
                <a:off x="2829755" y="2271416"/>
                <a:ext cx="7714419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Multi Modal AI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A2BE1D-AB3E-4FAF-7389-BFF3DB9A406F}"/>
                </a:ext>
              </a:extLst>
            </p:cNvPr>
            <p:cNvSpPr/>
            <p:nvPr/>
          </p:nvSpPr>
          <p:spPr>
            <a:xfrm>
              <a:off x="2647948" y="4185628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0C12ADC-C8DE-5CC2-606D-8AE03114EED7}"/>
              </a:ext>
            </a:extLst>
          </p:cNvPr>
          <p:cNvSpPr txBox="1"/>
          <p:nvPr/>
        </p:nvSpPr>
        <p:spPr>
          <a:xfrm>
            <a:off x="4591050" y="1584901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Problem &amp; Context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543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3907-EED6-E614-57C1-4AE79E10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2DBCD33-D62D-EB98-EB8D-1376CE9F7C05}"/>
              </a:ext>
            </a:extLst>
          </p:cNvPr>
          <p:cNvGrpSpPr/>
          <p:nvPr/>
        </p:nvGrpSpPr>
        <p:grpSpPr>
          <a:xfrm>
            <a:off x="656951" y="1008560"/>
            <a:ext cx="10798449" cy="5357416"/>
            <a:chOff x="656951" y="1008560"/>
            <a:chExt cx="10798449" cy="53574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3BFB75D-9DDE-51C9-B918-A7EB01234DFF}"/>
                </a:ext>
              </a:extLst>
            </p:cNvPr>
            <p:cNvGrpSpPr/>
            <p:nvPr/>
          </p:nvGrpSpPr>
          <p:grpSpPr>
            <a:xfrm>
              <a:off x="656951" y="1939795"/>
              <a:ext cx="10798449" cy="4426181"/>
              <a:chOff x="593451" y="2333495"/>
              <a:chExt cx="10798449" cy="442618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8E5D633-57DE-34D6-00C6-77D34E4DD9DC}"/>
                  </a:ext>
                </a:extLst>
              </p:cNvPr>
              <p:cNvSpPr/>
              <p:nvPr/>
            </p:nvSpPr>
            <p:spPr>
              <a:xfrm>
                <a:off x="3399182" y="5427066"/>
                <a:ext cx="7992718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65BA0A4-EE9E-6756-C1F5-1CC368A713B0}"/>
                  </a:ext>
                </a:extLst>
              </p:cNvPr>
              <p:cNvSpPr/>
              <p:nvPr/>
            </p:nvSpPr>
            <p:spPr>
              <a:xfrm>
                <a:off x="3399181" y="3238250"/>
                <a:ext cx="7992719" cy="68866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0BC50F8-B10E-2ABD-BCA2-E7F109010F22}"/>
                  </a:ext>
                </a:extLst>
              </p:cNvPr>
              <p:cNvSpPr/>
              <p:nvPr/>
            </p:nvSpPr>
            <p:spPr>
              <a:xfrm>
                <a:off x="3399182" y="2333495"/>
                <a:ext cx="7992718" cy="64249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7E71A5-F5F5-B0F9-E657-548ED3DBC5A5}"/>
                  </a:ext>
                </a:extLst>
              </p:cNvPr>
              <p:cNvSpPr txBox="1"/>
              <p:nvPr/>
            </p:nvSpPr>
            <p:spPr>
              <a:xfrm>
                <a:off x="593451" y="2333495"/>
                <a:ext cx="2805731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effectLst/>
                  </a:rPr>
                  <a:t>Solution architecture / workflow diagram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741F1A-83CF-D873-8C0C-B19DA9E58962}"/>
                  </a:ext>
                </a:extLst>
              </p:cNvPr>
              <p:cNvSpPr txBox="1"/>
              <p:nvPr/>
            </p:nvSpPr>
            <p:spPr>
              <a:xfrm>
                <a:off x="3531292" y="2347080"/>
                <a:ext cx="6565206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5-agent SSE pipeline on FastAPI backend + React 18 frontend. Agents: Triage → Threat Intel → Investigation → Playbook → Executive Summary, streamed live to the dashboard.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EB29870-295F-066F-6782-6F168F924A6B}"/>
                  </a:ext>
                </a:extLst>
              </p:cNvPr>
              <p:cNvGrpSpPr/>
              <p:nvPr/>
            </p:nvGrpSpPr>
            <p:grpSpPr>
              <a:xfrm>
                <a:off x="593452" y="3254766"/>
                <a:ext cx="9817373" cy="830997"/>
                <a:chOff x="660127" y="2898599"/>
                <a:chExt cx="9817373" cy="830997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396BE5-9C8A-3697-63AF-EF2E1E85A723}"/>
                    </a:ext>
                  </a:extLst>
                </p:cNvPr>
                <p:cNvSpPr txBox="1"/>
                <p:nvPr/>
              </p:nvSpPr>
              <p:spPr>
                <a:xfrm>
                  <a:off x="660127" y="2898599"/>
                  <a:ext cx="2805730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AI approach used (e.g., GenAI, RAG, agents, vision, speech, multimodal)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D95C2B-B023-6B33-94BD-6FCAF312C766}"/>
                    </a:ext>
                  </a:extLst>
                </p:cNvPr>
                <p:cNvSpPr txBox="1"/>
                <p:nvPr/>
              </p:nvSpPr>
              <p:spPr>
                <a:xfrm>
                  <a:off x="3597967" y="2987235"/>
                  <a:ext cx="6879533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Multi-agent Generative AI with Server-Sent Events (SSE) streaming. Each agent has a specialized prompt and runs sequentially, passing context to the next.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F787A3E-24A3-F862-897E-339634BEC6FC}"/>
                  </a:ext>
                </a:extLst>
              </p:cNvPr>
              <p:cNvGrpSpPr/>
              <p:nvPr/>
            </p:nvGrpSpPr>
            <p:grpSpPr>
              <a:xfrm>
                <a:off x="593451" y="4179694"/>
                <a:ext cx="9817374" cy="868514"/>
                <a:chOff x="660127" y="1957369"/>
                <a:chExt cx="9817374" cy="868514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3903929-3EDE-B0BA-808E-10D635788B8E}"/>
                    </a:ext>
                  </a:extLst>
                </p:cNvPr>
                <p:cNvSpPr txBox="1"/>
                <p:nvPr/>
              </p:nvSpPr>
              <p:spPr>
                <a:xfrm>
                  <a:off x="660127" y="1994886"/>
                  <a:ext cx="2723321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AI approach used (e.g., GenAI, RAG, agents, vision, speech, multimodal)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3B5D930-1AB9-5E23-DDC2-78A86CF28985}"/>
                    </a:ext>
                  </a:extLst>
                </p:cNvPr>
                <p:cNvSpPr txBox="1"/>
                <p:nvPr/>
              </p:nvSpPr>
              <p:spPr>
                <a:xfrm>
                  <a:off x="3597968" y="1957369"/>
                  <a:ext cx="6879533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Python / FastAPI, React 18, Ollama (qwen2.5:72b), AMD MI300X GPU, ROCm, Server-Sent Events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C88F13-ABAC-9823-0889-60E704980CA0}"/>
                  </a:ext>
                </a:extLst>
              </p:cNvPr>
              <p:cNvGrpSpPr/>
              <p:nvPr/>
            </p:nvGrpSpPr>
            <p:grpSpPr>
              <a:xfrm>
                <a:off x="593451" y="5427066"/>
                <a:ext cx="10016157" cy="1332610"/>
                <a:chOff x="660127" y="2196538"/>
                <a:chExt cx="10016157" cy="1332610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1B2216-6F16-100F-858B-337E63A450DE}"/>
                    </a:ext>
                  </a:extLst>
                </p:cNvPr>
                <p:cNvSpPr txBox="1"/>
                <p:nvPr/>
              </p:nvSpPr>
              <p:spPr>
                <a:xfrm>
                  <a:off x="660127" y="2196538"/>
                  <a:ext cx="2723321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Key technologies / frameworks leveraged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BEF9CF-922E-B1B4-C464-E50739263811}"/>
                    </a:ext>
                  </a:extLst>
                </p:cNvPr>
                <p:cNvSpPr txBox="1"/>
                <p:nvPr/>
              </p:nvSpPr>
              <p:spPr>
                <a:xfrm>
                  <a:off x="3597968" y="2196538"/>
                  <a:ext cx="7078316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Python / FastAPI, React 18, Ollama (qwen2.5:72b), AMD MI300X GPU, ROCm, Server-Sent Events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EC6AE8C-E827-0608-65DC-37042026C895}"/>
                    </a:ext>
                  </a:extLst>
                </p:cNvPr>
                <p:cNvSpPr txBox="1"/>
                <p:nvPr/>
              </p:nvSpPr>
              <p:spPr>
                <a:xfrm>
                  <a:off x="660128" y="2944373"/>
                  <a:ext cx="250755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What was built during the hackathon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D62C31-49A2-5084-E644-49605D9C4725}"/>
                    </a:ext>
                  </a:extLst>
                </p:cNvPr>
                <p:cNvSpPr txBox="1"/>
                <p:nvPr/>
              </p:nvSpPr>
              <p:spPr>
                <a:xfrm>
                  <a:off x="3597968" y="2944373"/>
                  <a:ext cx="7078316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Real-time SOC dashboard with live agent streaming, incident detection across multiple attack chains, automated remediation playbooks, and executive summary generation.</a:t>
                  </a: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3B50969-B8D2-1FA8-E130-903E50FEFE62}"/>
                  </a:ext>
                </a:extLst>
              </p:cNvPr>
              <p:cNvSpPr/>
              <p:nvPr/>
            </p:nvSpPr>
            <p:spPr>
              <a:xfrm>
                <a:off x="3399182" y="4185628"/>
                <a:ext cx="7992717" cy="98272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123540-5B14-030C-ADC1-FBBC50D95C5A}"/>
                  </a:ext>
                </a:extLst>
              </p:cNvPr>
              <p:cNvSpPr/>
              <p:nvPr/>
            </p:nvSpPr>
            <p:spPr>
              <a:xfrm>
                <a:off x="3399182" y="6174901"/>
                <a:ext cx="7992718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A08A97-7193-219A-A390-1B6ED083153B}"/>
                </a:ext>
              </a:extLst>
            </p:cNvPr>
            <p:cNvSpPr txBox="1"/>
            <p:nvPr/>
          </p:nvSpPr>
          <p:spPr>
            <a:xfrm>
              <a:off x="4705281" y="1008560"/>
              <a:ext cx="43442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2800" b="1" dirty="0">
                  <a:effectLst/>
                </a:rPr>
                <a:t>Solution Overview</a:t>
              </a:r>
              <a:endParaRPr lang="en-US" sz="28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FE1313F-F8FA-9881-CAC3-E535412C988E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241158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1762-96FD-67B4-1915-DC16C07D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0FD932-70BE-4E3E-6E2E-88F6D867A752}"/>
              </a:ext>
            </a:extLst>
          </p:cNvPr>
          <p:cNvSpPr txBox="1"/>
          <p:nvPr/>
        </p:nvSpPr>
        <p:spPr>
          <a:xfrm>
            <a:off x="12842875" y="8436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Technical Details &amp;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112FBF-E31E-F2C1-8892-40EF2D9BCAD9}"/>
              </a:ext>
            </a:extLst>
          </p:cNvPr>
          <p:cNvGrpSpPr/>
          <p:nvPr/>
        </p:nvGrpSpPr>
        <p:grpSpPr>
          <a:xfrm>
            <a:off x="155416" y="934574"/>
            <a:ext cx="11241221" cy="5497223"/>
            <a:chOff x="214179" y="1191201"/>
            <a:chExt cx="11241221" cy="592342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1525E2-9E46-2E74-0004-C934FD981D3A}"/>
                </a:ext>
              </a:extLst>
            </p:cNvPr>
            <p:cNvGrpSpPr/>
            <p:nvPr/>
          </p:nvGrpSpPr>
          <p:grpSpPr>
            <a:xfrm>
              <a:off x="214179" y="1939795"/>
              <a:ext cx="11241221" cy="5174832"/>
              <a:chOff x="150679" y="2333495"/>
              <a:chExt cx="11241221" cy="517483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272C85C-2DE1-B4BC-8EAA-CF8C051EE9E1}"/>
                  </a:ext>
                </a:extLst>
              </p:cNvPr>
              <p:cNvSpPr/>
              <p:nvPr/>
            </p:nvSpPr>
            <p:spPr>
              <a:xfrm>
                <a:off x="3084376" y="5197771"/>
                <a:ext cx="8307524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1ECF7D-E0BD-899A-C25C-07D2170D2113}"/>
                  </a:ext>
                </a:extLst>
              </p:cNvPr>
              <p:cNvSpPr/>
              <p:nvPr/>
            </p:nvSpPr>
            <p:spPr>
              <a:xfrm>
                <a:off x="3084375" y="3238250"/>
                <a:ext cx="8307525" cy="688660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D73168D-A699-0EC4-27A8-06901A3705F3}"/>
                  </a:ext>
                </a:extLst>
              </p:cNvPr>
              <p:cNvSpPr/>
              <p:nvPr/>
            </p:nvSpPr>
            <p:spPr>
              <a:xfrm>
                <a:off x="3084374" y="2333495"/>
                <a:ext cx="8307526" cy="64249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6B78DF-5FAE-12E3-594C-E17BE47A01A7}"/>
                  </a:ext>
                </a:extLst>
              </p:cNvPr>
              <p:cNvSpPr txBox="1"/>
              <p:nvPr/>
            </p:nvSpPr>
            <p:spPr>
              <a:xfrm>
                <a:off x="163377" y="2392636"/>
                <a:ext cx="29209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effectLst/>
                  </a:rPr>
                  <a:t>Models used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050B95-41F3-6F10-C40A-2A19AF668D34}"/>
                  </a:ext>
                </a:extLst>
              </p:cNvPr>
              <p:cNvSpPr txBox="1"/>
              <p:nvPr/>
            </p:nvSpPr>
            <p:spPr>
              <a:xfrm>
                <a:off x="3084374" y="2347080"/>
                <a:ext cx="701212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qwen2.5:72b via Ollama (AMD ROCm backend on MI300X)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9722285-5F1F-3800-3694-366BF29F9C72}"/>
                  </a:ext>
                </a:extLst>
              </p:cNvPr>
              <p:cNvGrpSpPr/>
              <p:nvPr/>
            </p:nvGrpSpPr>
            <p:grpSpPr>
              <a:xfrm>
                <a:off x="163376" y="3241780"/>
                <a:ext cx="10133149" cy="614561"/>
                <a:chOff x="230051" y="2885613"/>
                <a:chExt cx="10133149" cy="614561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2A98719-6FA7-AF57-DBEA-0B06A414F75D}"/>
                    </a:ext>
                  </a:extLst>
                </p:cNvPr>
                <p:cNvSpPr txBox="1"/>
                <p:nvPr/>
              </p:nvSpPr>
              <p:spPr>
                <a:xfrm>
                  <a:off x="230051" y="2915399"/>
                  <a:ext cx="2081381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Dataset(s) used (if fine-tuning)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E81C8A7-5784-9176-EF0C-A49A48D6CB35}"/>
                    </a:ext>
                  </a:extLst>
                </p:cNvPr>
                <p:cNvSpPr txBox="1"/>
                <p:nvPr/>
              </p:nvSpPr>
              <p:spPr>
                <a:xfrm>
                  <a:off x="3151051" y="2885613"/>
                  <a:ext cx="7212149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Synthetic alert generator (gen_sample_alerts.py) — 200+ alerts across 5 concurrent attack chains (APT, ransomware, insider threat)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BE9B128-8A1E-3991-864D-3476D6C6601C}"/>
                  </a:ext>
                </a:extLst>
              </p:cNvPr>
              <p:cNvGrpSpPr/>
              <p:nvPr/>
            </p:nvGrpSpPr>
            <p:grpSpPr>
              <a:xfrm>
                <a:off x="163377" y="4113460"/>
                <a:ext cx="10247448" cy="584774"/>
                <a:chOff x="230053" y="1891135"/>
                <a:chExt cx="10247448" cy="584774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0144D14-ADCA-54FE-F798-DB1B1D0CCA28}"/>
                    </a:ext>
                  </a:extLst>
                </p:cNvPr>
                <p:cNvSpPr txBox="1"/>
                <p:nvPr/>
              </p:nvSpPr>
              <p:spPr>
                <a:xfrm>
                  <a:off x="230053" y="1891135"/>
                  <a:ext cx="1827382" cy="584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Training time (if fine tuning)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98C272D-32D1-7FCB-B65C-C7A46034D6CA}"/>
                    </a:ext>
                  </a:extLst>
                </p:cNvPr>
                <p:cNvSpPr txBox="1"/>
                <p:nvPr/>
              </p:nvSpPr>
              <p:spPr>
                <a:xfrm>
                  <a:off x="3151052" y="1957369"/>
                  <a:ext cx="7326449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N/A — inference only, using pre-trained qwen2.5:72b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F789286-87E1-64BB-093E-36B7A28FB68B}"/>
                  </a:ext>
                </a:extLst>
              </p:cNvPr>
              <p:cNvGrpSpPr/>
              <p:nvPr/>
            </p:nvGrpSpPr>
            <p:grpSpPr>
              <a:xfrm>
                <a:off x="150679" y="5108618"/>
                <a:ext cx="9645437" cy="2313526"/>
                <a:chOff x="217355" y="1878090"/>
                <a:chExt cx="9645437" cy="2313526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8639DFC-7D52-97E9-6166-21731BFB0339}"/>
                    </a:ext>
                  </a:extLst>
                </p:cNvPr>
                <p:cNvSpPr txBox="1"/>
                <p:nvPr/>
              </p:nvSpPr>
              <p:spPr>
                <a:xfrm>
                  <a:off x="217355" y="1916382"/>
                  <a:ext cx="2452822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Number of tokens used for a couple of example scenarios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D965C3D-B5E3-F6A6-465E-B5CC4177D8B4}"/>
                    </a:ext>
                  </a:extLst>
                </p:cNvPr>
                <p:cNvSpPr txBox="1"/>
                <p:nvPr/>
              </p:nvSpPr>
              <p:spPr>
                <a:xfrm>
                  <a:off x="3151052" y="1878090"/>
                  <a:ext cx="6597440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~4,096 output tokens per full analysis (5 agents × ~800 tokens avg)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91CBBB3-0AA0-04B8-334F-3931FEC67153}"/>
                    </a:ext>
                  </a:extLst>
                </p:cNvPr>
                <p:cNvSpPr txBox="1"/>
                <p:nvPr/>
              </p:nvSpPr>
              <p:spPr>
                <a:xfrm>
                  <a:off x="217355" y="2878826"/>
                  <a:ext cx="230042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End-to-end latency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DCF6406-636B-E0D2-88E8-5A9FED53DCB8}"/>
                    </a:ext>
                  </a:extLst>
                </p:cNvPr>
                <p:cNvSpPr txBox="1"/>
                <p:nvPr/>
              </p:nvSpPr>
              <p:spPr>
                <a:xfrm>
                  <a:off x="3151050" y="2911943"/>
                  <a:ext cx="6711742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2–5 minutes for 200 alerts on AMD MI300X (qwen2.5:72b)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6BFD47-4657-BACC-C35E-96C95C8DDA01}"/>
                    </a:ext>
                  </a:extLst>
                </p:cNvPr>
                <p:cNvSpPr txBox="1"/>
                <p:nvPr/>
              </p:nvSpPr>
              <p:spPr>
                <a:xfrm>
                  <a:off x="217356" y="3606841"/>
                  <a:ext cx="292099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GPU usage including memory </a:t>
                  </a:r>
                  <a:r>
                    <a:rPr lang="en-US" sz="1600" dirty="0"/>
                    <a:t>(gives a sense of right sizing)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DD4D53-BF8B-2B08-B2EA-46448CEAA253}"/>
                    </a:ext>
                  </a:extLst>
                </p:cNvPr>
                <p:cNvSpPr txBox="1"/>
                <p:nvPr/>
              </p:nvSpPr>
              <p:spPr>
                <a:xfrm>
                  <a:off x="3151050" y="3660594"/>
                  <a:ext cx="6711741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/>
                    <a:t>AMD MI300X 192 GB HBM3; ~30–50 GB VRAM for 72B model inference. Peak throughput: ~120 tokens/sec on MI300X with ROCm</a:t>
                  </a:r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58EBD63-ED76-428E-7CB2-67B05A4B5F8C}"/>
                  </a:ext>
                </a:extLst>
              </p:cNvPr>
              <p:cNvSpPr/>
              <p:nvPr/>
            </p:nvSpPr>
            <p:spPr>
              <a:xfrm>
                <a:off x="3084376" y="4185628"/>
                <a:ext cx="8307524" cy="675666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8FE62A5-6897-60B1-66C1-E3DAC46B5E86}"/>
                  </a:ext>
                </a:extLst>
              </p:cNvPr>
              <p:cNvSpPr/>
              <p:nvPr/>
            </p:nvSpPr>
            <p:spPr>
              <a:xfrm>
                <a:off x="3084376" y="6174901"/>
                <a:ext cx="8307523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C05C553-61E7-E800-3D07-CA82FEF2483A}"/>
                  </a:ext>
                </a:extLst>
              </p:cNvPr>
              <p:cNvSpPr/>
              <p:nvPr/>
            </p:nvSpPr>
            <p:spPr>
              <a:xfrm>
                <a:off x="3084377" y="6923552"/>
                <a:ext cx="8307522" cy="584775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9EC1EA-BE3F-026A-D476-C44BC1683034}"/>
                </a:ext>
              </a:extLst>
            </p:cNvPr>
            <p:cNvSpPr txBox="1"/>
            <p:nvPr/>
          </p:nvSpPr>
          <p:spPr>
            <a:xfrm>
              <a:off x="4654550" y="1191201"/>
              <a:ext cx="43442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effectLst/>
                </a:rPr>
                <a:t>Peak Throughput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B259C82-B91E-03A9-212E-48FE14D8F8F7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391073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C808-ECB5-1970-7269-AA6B7728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3272C6-9E53-0708-6999-F20557EC5737}"/>
              </a:ext>
            </a:extLst>
          </p:cNvPr>
          <p:cNvGrpSpPr/>
          <p:nvPr/>
        </p:nvGrpSpPr>
        <p:grpSpPr>
          <a:xfrm>
            <a:off x="359875" y="2333495"/>
            <a:ext cx="11032026" cy="3800053"/>
            <a:chOff x="359875" y="2333495"/>
            <a:chExt cx="11032026" cy="380005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033F42-6A24-83A7-813F-CBA028298D2F}"/>
                </a:ext>
              </a:extLst>
            </p:cNvPr>
            <p:cNvSpPr/>
            <p:nvPr/>
          </p:nvSpPr>
          <p:spPr>
            <a:xfrm>
              <a:off x="2647949" y="3866234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A6F5EA-7C1C-708E-0600-190F51A1AEB2}"/>
                </a:ext>
              </a:extLst>
            </p:cNvPr>
            <p:cNvSpPr/>
            <p:nvPr/>
          </p:nvSpPr>
          <p:spPr>
            <a:xfrm>
              <a:off x="2647949" y="2333495"/>
              <a:ext cx="8743951" cy="118276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3D062D-E455-583F-27B5-87965F825CDD}"/>
                </a:ext>
              </a:extLst>
            </p:cNvPr>
            <p:cNvSpPr txBox="1"/>
            <p:nvPr/>
          </p:nvSpPr>
          <p:spPr>
            <a:xfrm>
              <a:off x="359875" y="2347080"/>
              <a:ext cx="2154724" cy="10772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Expected impact or value (efficiency, productivity, scale, experience)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6387BF-9666-67A3-E976-F6F23416259D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dirty="0"/>
                <a:t>Reduces tier-1 analyst workload by automating alert triage and correlation. MTTD drops from hours to minutes for multi-stage attacks.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4106D0-917A-447B-02C9-5FBF1E65ED6A}"/>
                </a:ext>
              </a:extLst>
            </p:cNvPr>
            <p:cNvGrpSpPr/>
            <p:nvPr/>
          </p:nvGrpSpPr>
          <p:grpSpPr>
            <a:xfrm>
              <a:off x="359875" y="3869272"/>
              <a:ext cx="10084286" cy="686888"/>
              <a:chOff x="426550" y="3513105"/>
              <a:chExt cx="10084286" cy="68688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E16E81-8465-FADE-15BC-A886BF5DE218}"/>
                  </a:ext>
                </a:extLst>
              </p:cNvPr>
              <p:cNvSpPr txBox="1"/>
              <p:nvPr/>
            </p:nvSpPr>
            <p:spPr>
              <a:xfrm>
                <a:off x="426550" y="3615218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Key differentiators / innovation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DC2DD-2A36-046F-967B-29703C307510}"/>
                  </a:ext>
                </a:extLst>
              </p:cNvPr>
              <p:cNvSpPr txBox="1"/>
              <p:nvPr/>
            </p:nvSpPr>
            <p:spPr>
              <a:xfrm>
                <a:off x="2714623" y="3513105"/>
                <a:ext cx="779621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Fully on-prem (no cloud dependency), real-time streaming output, runs on AMD MI300X with ROCm, 5-stage agentic reasoning with context chaining.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BDF5EEC-7FDD-4D93-B705-139A569C9BD8}"/>
                </a:ext>
              </a:extLst>
            </p:cNvPr>
            <p:cNvGrpSpPr/>
            <p:nvPr/>
          </p:nvGrpSpPr>
          <p:grpSpPr>
            <a:xfrm>
              <a:off x="359875" y="5144894"/>
              <a:ext cx="10050950" cy="868514"/>
              <a:chOff x="426551" y="2922569"/>
              <a:chExt cx="10050950" cy="86851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8ACCB8-B42A-1580-1CA0-F28C8E6DE48D}"/>
                  </a:ext>
                </a:extLst>
              </p:cNvPr>
              <p:cNvSpPr txBox="1"/>
              <p:nvPr/>
            </p:nvSpPr>
            <p:spPr>
              <a:xfrm>
                <a:off x="426551" y="2960086"/>
                <a:ext cx="228807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Demo flow overview (what the jury should notice)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06CB9C-E3FE-B628-69AF-0C224FDA6444}"/>
                  </a:ext>
                </a:extLst>
              </p:cNvPr>
              <p:cNvSpPr txBox="1"/>
              <p:nvPr/>
            </p:nvSpPr>
            <p:spPr>
              <a:xfrm>
                <a:off x="2714624" y="2922569"/>
                <a:ext cx="7762877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Upload 200-alert dataset via UI → watch 5 agents stream analysis live → view correlated incident dashboard → review auto-generated remediation playbook → download executive summary.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1F999D-BDDA-7771-E392-D329264AFF27}"/>
                </a:ext>
              </a:extLst>
            </p:cNvPr>
            <p:cNvSpPr/>
            <p:nvPr/>
          </p:nvSpPr>
          <p:spPr>
            <a:xfrm>
              <a:off x="2647948" y="5150828"/>
              <a:ext cx="8743952" cy="9827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0E297F2-5FD1-B9BA-A177-7BCE9DBA6252}"/>
              </a:ext>
            </a:extLst>
          </p:cNvPr>
          <p:cNvSpPr txBox="1"/>
          <p:nvPr/>
        </p:nvSpPr>
        <p:spPr>
          <a:xfrm>
            <a:off x="4591050" y="1584901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Impact &amp; Demo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54024-F0B8-76E8-2607-DB4A80AA3794}"/>
              </a:ext>
            </a:extLst>
          </p:cNvPr>
          <p:cNvSpPr txBox="1"/>
          <p:nvPr/>
        </p:nvSpPr>
        <p:spPr>
          <a:xfrm>
            <a:off x="-52513" y="6581001"/>
            <a:ext cx="7030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Add/Update/Delete the sections as per your requirement.</a:t>
            </a:r>
          </a:p>
        </p:txBody>
      </p:sp>
    </p:spTree>
    <p:extLst>
      <p:ext uri="{BB962C8B-B14F-4D97-AF65-F5344CB8AC3E}">
        <p14:creationId xmlns:p14="http://schemas.microsoft.com/office/powerpoint/2010/main" val="123975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8432-BF8A-BC91-CE39-70B040B3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41C3F-FA16-1E1A-4F94-6E8AB5ED1588}"/>
              </a:ext>
            </a:extLst>
          </p:cNvPr>
          <p:cNvSpPr txBox="1"/>
          <p:nvPr/>
        </p:nvSpPr>
        <p:spPr>
          <a:xfrm>
            <a:off x="978350" y="3804413"/>
            <a:ext cx="4699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7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778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5E0B734DE84C47ADA49F014D6D3763" ma:contentTypeVersion="14" ma:contentTypeDescription="Create a new document." ma:contentTypeScope="" ma:versionID="b1ec707231c61651037e91af93f785fb">
  <xsd:schema xmlns:xsd="http://www.w3.org/2001/XMLSchema" xmlns:xs="http://www.w3.org/2001/XMLSchema" xmlns:p="http://schemas.microsoft.com/office/2006/metadata/properties" xmlns:ns2="86154de5-2709-4c53-bb16-150dcccdfdde" xmlns:ns3="1ed6c3e1-1f09-466b-8145-3f68e7c93ad9" targetNamespace="http://schemas.microsoft.com/office/2006/metadata/properties" ma:root="true" ma:fieldsID="cf9ff3f05e63a30acf7dd48d339b994d" ns2:_="" ns3:_="">
    <xsd:import namespace="86154de5-2709-4c53-bb16-150dcccdfdde"/>
    <xsd:import namespace="1ed6c3e1-1f09-466b-8145-3f68e7c93a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54de5-2709-4c53-bb16-150dcccdf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d6c3e1-1f09-466b-8145-3f68e7c93ad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2283f7c-1dd4-488b-ae2c-749245031ab1}" ma:internalName="TaxCatchAll" ma:showField="CatchAllData" ma:web="1ed6c3e1-1f09-466b-8145-3f68e7c93a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154de5-2709-4c53-bb16-150dcccdfdde">
      <Terms xmlns="http://schemas.microsoft.com/office/infopath/2007/PartnerControls"/>
    </lcf76f155ced4ddcb4097134ff3c332f>
    <TaxCatchAll xmlns="1ed6c3e1-1f09-466b-8145-3f68e7c93ad9" xsi:nil="true"/>
  </documentManagement>
</p:properties>
</file>

<file path=customXml/itemProps1.xml><?xml version="1.0" encoding="utf-8"?>
<ds:datastoreItem xmlns:ds="http://schemas.openxmlformats.org/officeDocument/2006/customXml" ds:itemID="{59091F40-538C-40CE-87C6-2153E9BAF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54de5-2709-4c53-bb16-150dcccdfdde"/>
    <ds:schemaRef ds:uri="1ed6c3e1-1f09-466b-8145-3f68e7c93a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A155FC-EAC2-442F-8A1E-1251702318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C04C94-777F-4342-9550-38E092D78CB6}">
  <ds:schemaRefs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86154de5-2709-4c53-bb16-150dcccdfdde"/>
    <ds:schemaRef ds:uri="http://schemas.microsoft.com/office/infopath/2007/PartnerControls"/>
    <ds:schemaRef ds:uri="1ed6c3e1-1f09-466b-8145-3f68e7c93ad9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267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Houschka Rounded Alt Medium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Swapnali Patil</dc:creator>
  <cp:lastModifiedBy>Reetu  Asthana</cp:lastModifiedBy>
  <cp:revision>3</cp:revision>
  <dcterms:created xsi:type="dcterms:W3CDTF">2026-05-26T11:32:19Z</dcterms:created>
  <dcterms:modified xsi:type="dcterms:W3CDTF">2026-05-27T11:37:52Z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0x0101005B5E0B734DE84C47ADA49F014D6D3763</vt:lpwstr>
  </property>
  <property fmtid="{D5CDD505-2E9C-101B-9397-08002B2CF9AE}" pid="3" name="MediaServiceImageTags">
    <vt:lpwstr/>
  </property>
</Properties>
</file>